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media20.mp4" ContentType="video/mp4"/>
  <Override PartName="/ppt/media/media22.mp4" ContentType="video/mp4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editar o 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Mestre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BDB1FF-1EB4-4A33-99DC-D961555F9E02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F4DBC4-E298-478E-BCF4-595AC88B881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C9361A-9E42-4F30-96CF-D292BE84751F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F13CED-574C-448E-9867-A1B1C3671F2A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B9E335-D6C3-4B33-9A4B-2F51300F1B9A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5CC12AD-55C4-4F45-850A-4C00F7DC76C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707366-FF88-4A43-BA79-AEA7827DA71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BD41F4-681C-490B-BEEB-29E8777C386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25C3F6-5DDF-4850-94E9-09AD8A1199F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D88791-BB9A-4EDA-8C6C-47629D57941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43FE9C-CC46-4EEF-AF69-752BF6F1E414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image" Target="../media/image15.jpeg"/><Relationship Id="rId3" Type="http://schemas.openxmlformats.org/officeDocument/2006/relationships/image" Target="../media/image16.jpeg"/><Relationship Id="rId4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video" Target="../media/media20.mp4"/><Relationship Id="rId2" Type="http://schemas.microsoft.com/office/2007/relationships/media" Target="../media/media20.mp4"/><Relationship Id="rId3" Type="http://schemas.openxmlformats.org/officeDocument/2006/relationships/image" Target="../media/image21.png"/><Relationship Id="rId4" Type="http://schemas.openxmlformats.org/officeDocument/2006/relationships/video" Target="../media/media22.mp4"/><Relationship Id="rId5" Type="http://schemas.microsoft.com/office/2007/relationships/media" Target="../media/media22.mp4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440000" y="132840"/>
            <a:ext cx="9539640" cy="2026800"/>
          </a:xfrm>
          <a:prstGeom prst="rect">
            <a:avLst/>
          </a:prstGeom>
          <a:solidFill>
            <a:srgbClr val="AFD095"/>
          </a:solidFill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TRABALHO DA REGIÃO NORDESTE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 rot="10800000">
            <a:off x="1524240" y="7487280"/>
            <a:ext cx="914328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>
              <a:buNone/>
            </a:pP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CaixaDeTexto 3"/>
          <p:cNvSpPr/>
          <p:nvPr/>
        </p:nvSpPr>
        <p:spPr>
          <a:xfrm>
            <a:off x="7936920" y="3960000"/>
            <a:ext cx="39427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INFORMATICA PARA INTERNET – 1° ANO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aixaDeTexto 4"/>
          <p:cNvSpPr/>
          <p:nvPr/>
        </p:nvSpPr>
        <p:spPr>
          <a:xfrm>
            <a:off x="3526920" y="3863160"/>
            <a:ext cx="2941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CaixaDeTexto 63"/>
          <p:cNvSpPr/>
          <p:nvPr/>
        </p:nvSpPr>
        <p:spPr>
          <a:xfrm>
            <a:off x="8459640" y="4350240"/>
            <a:ext cx="2897640" cy="2374920"/>
          </a:xfrm>
          <a:prstGeom prst="rect">
            <a:avLst/>
          </a:prstGeom>
          <a:solidFill>
            <a:srgbClr val="AFD0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Davi Ribeiro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Carlos Eduardo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Valkyria Zumba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Fabrício Bryan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Pedro Henrique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Arthur Batista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Guilherme Procópio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Rafael Martins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split dir="out" orient="vert"/>
      </p:transition>
    </mc:Choice>
    <mc:Fallback>
      <p:transition spd="slow">
        <p:split dir="out" orient="vert"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tângulo 2"/>
          <p:cNvSpPr/>
          <p:nvPr/>
        </p:nvSpPr>
        <p:spPr>
          <a:xfrm>
            <a:off x="4381200" y="297720"/>
            <a:ext cx="3254400" cy="10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SUMÁRIO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CaixaDeTexto 2"/>
          <p:cNvSpPr/>
          <p:nvPr/>
        </p:nvSpPr>
        <p:spPr>
          <a:xfrm>
            <a:off x="524160" y="1777320"/>
            <a:ext cx="5455080" cy="4831560"/>
          </a:xfrm>
          <a:prstGeom prst="rect">
            <a:avLst/>
          </a:prstGeom>
          <a:gradFill rotWithShape="0">
            <a:gsLst>
              <a:gs pos="0">
                <a:srgbClr val="B5D3A7"/>
              </a:gs>
              <a:gs pos="0">
                <a:srgbClr val="9CC588"/>
              </a:gs>
            </a:gsLst>
            <a:lin ang="5400000"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1- Mapa do Nordeste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 Estados da Região Nordeste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3- Características Físicas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4- Aspectos Culturais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5- Aspectos Econômicos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6- PIB do Nordeste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7- Pontos Turísticos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8- Curiosidades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9- Bibliografia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10- Considerações Finais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Imagem 16"/>
          <p:cNvPicPr/>
          <p:nvPr/>
        </p:nvPicPr>
        <p:blipFill>
          <a:blip r:embed="rId1"/>
          <a:stretch/>
        </p:blipFill>
        <p:spPr>
          <a:xfrm>
            <a:off x="3102480" y="1015560"/>
            <a:ext cx="5986080" cy="57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Retângulo 2"/>
          <p:cNvSpPr/>
          <p:nvPr/>
        </p:nvSpPr>
        <p:spPr>
          <a:xfrm>
            <a:off x="2710440" y="297720"/>
            <a:ext cx="6770160" cy="10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MAPA DO NORDESTE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aixaDeTexto 7"/>
          <p:cNvSpPr/>
          <p:nvPr/>
        </p:nvSpPr>
        <p:spPr>
          <a:xfrm>
            <a:off x="3370680" y="401400"/>
            <a:ext cx="5450040" cy="12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ESTADOS DA REGIÃO 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NORDESTE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aixaDeTexto 5"/>
          <p:cNvSpPr/>
          <p:nvPr/>
        </p:nvSpPr>
        <p:spPr>
          <a:xfrm>
            <a:off x="8110800" y="2594520"/>
            <a:ext cx="39006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Ceara(CE) – Fortaleza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CaixaDeTexto 6"/>
          <p:cNvSpPr/>
          <p:nvPr/>
        </p:nvSpPr>
        <p:spPr>
          <a:xfrm>
            <a:off x="333720" y="2594520"/>
            <a:ext cx="374688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Alagoas(AL) - Maceió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CaixaDeTexto 8"/>
          <p:cNvSpPr/>
          <p:nvPr/>
        </p:nvSpPr>
        <p:spPr>
          <a:xfrm>
            <a:off x="4276800" y="2594520"/>
            <a:ext cx="3637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Bahia(BA) – Salvador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m 2"/>
          <p:cNvPicPr/>
          <p:nvPr/>
        </p:nvPicPr>
        <p:blipFill>
          <a:blip r:embed="rId1"/>
          <a:stretch/>
        </p:blipFill>
        <p:spPr>
          <a:xfrm>
            <a:off x="333720" y="3413160"/>
            <a:ext cx="3746880" cy="249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m 4"/>
          <p:cNvPicPr/>
          <p:nvPr/>
        </p:nvPicPr>
        <p:blipFill>
          <a:blip r:embed="rId2"/>
          <a:stretch/>
        </p:blipFill>
        <p:spPr>
          <a:xfrm>
            <a:off x="4355280" y="3429000"/>
            <a:ext cx="3480480" cy="249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Imagem 10"/>
          <p:cNvPicPr/>
          <p:nvPr/>
        </p:nvPicPr>
        <p:blipFill>
          <a:blip r:embed="rId3"/>
          <a:stretch/>
        </p:blipFill>
        <p:spPr>
          <a:xfrm>
            <a:off x="8110800" y="3429000"/>
            <a:ext cx="3746880" cy="249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3400"/>
    </mc:Choice>
    <mc:Fallback>
      <p:transition spd="slow"/>
    </mc:Fallback>
  </mc:AlternateContent>
  <p:timing>
    <p:tnLst>
      <p:par>
        <p:cTn id="10" dur="indefinite" restart="never" nodeType="tmRoot">
          <p:childTnLst>
            <p:seq>
              <p:cTn id="11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aixaDeTexto 7"/>
          <p:cNvSpPr/>
          <p:nvPr/>
        </p:nvSpPr>
        <p:spPr>
          <a:xfrm>
            <a:off x="3370680" y="401400"/>
            <a:ext cx="5450040" cy="12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ESTADOS DA REGIÃO 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NORDESTE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CaixaDeTexto 5"/>
          <p:cNvSpPr/>
          <p:nvPr/>
        </p:nvSpPr>
        <p:spPr>
          <a:xfrm>
            <a:off x="8110800" y="2594520"/>
            <a:ext cx="3900600" cy="13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Pernambuco(PE) – Recife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aixaDeTexto 6"/>
          <p:cNvSpPr/>
          <p:nvPr/>
        </p:nvSpPr>
        <p:spPr>
          <a:xfrm>
            <a:off x="59400" y="2594520"/>
            <a:ext cx="4127040" cy="95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Maranhão(MA) – São Luís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CaixaDeTexto 8"/>
          <p:cNvSpPr/>
          <p:nvPr/>
        </p:nvSpPr>
        <p:spPr>
          <a:xfrm>
            <a:off x="4276800" y="2594520"/>
            <a:ext cx="3637800" cy="13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Paraíba(PB) – João Pessoa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m 3"/>
          <p:cNvPicPr/>
          <p:nvPr/>
        </p:nvPicPr>
        <p:blipFill>
          <a:blip r:embed="rId1"/>
          <a:stretch/>
        </p:blipFill>
        <p:spPr>
          <a:xfrm>
            <a:off x="333720" y="3423600"/>
            <a:ext cx="3746520" cy="249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Imagem 11"/>
          <p:cNvPicPr/>
          <p:nvPr/>
        </p:nvPicPr>
        <p:blipFill>
          <a:blip r:embed="rId2"/>
          <a:stretch/>
        </p:blipFill>
        <p:spPr>
          <a:xfrm>
            <a:off x="4355280" y="3416400"/>
            <a:ext cx="3600720" cy="252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Imagem 13"/>
          <p:cNvPicPr/>
          <p:nvPr/>
        </p:nvPicPr>
        <p:blipFill>
          <a:blip r:embed="rId3"/>
          <a:stretch/>
        </p:blipFill>
        <p:spPr>
          <a:xfrm>
            <a:off x="8152560" y="3423600"/>
            <a:ext cx="3788640" cy="24987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l"/>
  </p:transition>
  <p:timing>
    <p:tnLst>
      <p:par>
        <p:cTn id="42" dur="indefinite" restart="never" nodeType="tmRoot">
          <p:childTnLst>
            <p:seq>
              <p:cTn id="43" dur="indefinite" nodeType="mainSeq">
                <p:childTnLst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8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8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6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8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aixaDeTexto 7"/>
          <p:cNvSpPr/>
          <p:nvPr/>
        </p:nvSpPr>
        <p:spPr>
          <a:xfrm>
            <a:off x="3370680" y="401400"/>
            <a:ext cx="5450040" cy="12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ESTADOS DA REGIÃO 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NORDESTE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CaixaDeTexto 5"/>
          <p:cNvSpPr/>
          <p:nvPr/>
        </p:nvSpPr>
        <p:spPr>
          <a:xfrm>
            <a:off x="8110800" y="2594520"/>
            <a:ext cx="39006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Sergipe(SE) - Aracaju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CaixaDeTexto 6"/>
          <p:cNvSpPr/>
          <p:nvPr/>
        </p:nvSpPr>
        <p:spPr>
          <a:xfrm>
            <a:off x="333720" y="2594520"/>
            <a:ext cx="34002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Piauí(PI) – Teresina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CaixaDeTexto 8"/>
          <p:cNvSpPr/>
          <p:nvPr/>
        </p:nvSpPr>
        <p:spPr>
          <a:xfrm>
            <a:off x="4167720" y="2594520"/>
            <a:ext cx="3668040" cy="95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Rio grande do norte(RN) – Natal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m 3"/>
          <p:cNvPicPr/>
          <p:nvPr/>
        </p:nvPicPr>
        <p:blipFill>
          <a:blip r:embed="rId1"/>
          <a:stretch/>
        </p:blipFill>
        <p:spPr>
          <a:xfrm>
            <a:off x="333720" y="3429000"/>
            <a:ext cx="3746880" cy="249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Imagem 11"/>
          <p:cNvPicPr/>
          <p:nvPr/>
        </p:nvPicPr>
        <p:blipFill>
          <a:blip r:embed="rId2"/>
          <a:stretch/>
        </p:blipFill>
        <p:spPr>
          <a:xfrm>
            <a:off x="4355280" y="3429000"/>
            <a:ext cx="3489480" cy="249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Imagem 13"/>
          <p:cNvPicPr/>
          <p:nvPr/>
        </p:nvPicPr>
        <p:blipFill>
          <a:blip r:embed="rId3"/>
          <a:stretch/>
        </p:blipFill>
        <p:spPr>
          <a:xfrm>
            <a:off x="8033400" y="3429000"/>
            <a:ext cx="3573720" cy="250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74" dur="indefinite" restart="never" nodeType="tmRoot">
          <p:childTnLst>
            <p:seq>
              <p:cTn id="75" dur="indefinite" nodeType="mainSeq">
                <p:childTnLst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0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8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9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aixaDeTexto 7"/>
          <p:cNvSpPr/>
          <p:nvPr/>
        </p:nvSpPr>
        <p:spPr>
          <a:xfrm>
            <a:off x="2422440" y="401400"/>
            <a:ext cx="700740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CARACTERÍSTICAS FÍSICAS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CaixaDeTexto 9"/>
          <p:cNvSpPr/>
          <p:nvPr/>
        </p:nvSpPr>
        <p:spPr>
          <a:xfrm>
            <a:off x="940680" y="3051720"/>
            <a:ext cx="197316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RELEVO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aixaDeTexto 1"/>
          <p:cNvSpPr/>
          <p:nvPr/>
        </p:nvSpPr>
        <p:spPr>
          <a:xfrm>
            <a:off x="4962600" y="3051720"/>
            <a:ext cx="151884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CLIMA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CaixaDeTexto 10"/>
          <p:cNvSpPr/>
          <p:nvPr/>
        </p:nvSpPr>
        <p:spPr>
          <a:xfrm>
            <a:off x="8974080" y="3051720"/>
            <a:ext cx="276768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VEGETAÇÃO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06" dur="indefinite" restart="never" nodeType="tmRoot">
          <p:childTnLst>
            <p:seq>
              <p:cTn id="107" dur="indefinite" nodeType="mainSeq">
                <p:childTnLst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aixaDeTexto 7"/>
          <p:cNvSpPr/>
          <p:nvPr/>
        </p:nvSpPr>
        <p:spPr>
          <a:xfrm>
            <a:off x="5094360" y="401400"/>
            <a:ext cx="21765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RELEVO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CaixaDeTexto 2"/>
          <p:cNvSpPr/>
          <p:nvPr/>
        </p:nvSpPr>
        <p:spPr>
          <a:xfrm>
            <a:off x="2048040" y="1517040"/>
            <a:ext cx="28832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-Planaltos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-Planícies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Picture 4" descr="Relevo Da Regiao Nordeste Estados Do Nordeste: Quais São, Capitais,"/>
          <p:cNvPicPr/>
          <p:nvPr/>
        </p:nvPicPr>
        <p:blipFill>
          <a:blip r:embed="rId1"/>
          <a:stretch/>
        </p:blipFill>
        <p:spPr>
          <a:xfrm>
            <a:off x="630000" y="2907720"/>
            <a:ext cx="4300920" cy="297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CaixaDeTexto 3"/>
          <p:cNvSpPr/>
          <p:nvPr/>
        </p:nvSpPr>
        <p:spPr>
          <a:xfrm>
            <a:off x="846360" y="6086160"/>
            <a:ext cx="40849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Parque nacional da chapada diamantina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Picture 6" descr="Monumento Natural das Falésias de Beberibe - O que saber antes de ir"/>
          <p:cNvPicPr/>
          <p:nvPr/>
        </p:nvPicPr>
        <p:blipFill>
          <a:blip r:embed="rId2"/>
          <a:stretch/>
        </p:blipFill>
        <p:spPr>
          <a:xfrm>
            <a:off x="6413760" y="2907720"/>
            <a:ext cx="4592880" cy="297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CaixaDeTexto 11"/>
          <p:cNvSpPr/>
          <p:nvPr/>
        </p:nvSpPr>
        <p:spPr>
          <a:xfrm>
            <a:off x="6413760" y="6086160"/>
            <a:ext cx="45928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Monumentos naturais da falésias e Beberibe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aixaDeTexto 2"/>
          <p:cNvSpPr/>
          <p:nvPr/>
        </p:nvSpPr>
        <p:spPr>
          <a:xfrm>
            <a:off x="7630200" y="1519560"/>
            <a:ext cx="3205080" cy="12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-Chapadas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-Depressões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30" dur="indefinite" restart="never" nodeType="tmRoot">
          <p:childTnLst>
            <p:seq>
              <p:cTn id="131" dur="indefinite" nodeType="mainSeq">
                <p:childTnLst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3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4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aixaDeTexto 7"/>
          <p:cNvSpPr/>
          <p:nvPr/>
        </p:nvSpPr>
        <p:spPr>
          <a:xfrm>
            <a:off x="5094360" y="401400"/>
            <a:ext cx="21765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CLIMA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aixaDeTexto 2"/>
          <p:cNvSpPr/>
          <p:nvPr/>
        </p:nvSpPr>
        <p:spPr>
          <a:xfrm>
            <a:off x="466200" y="2523960"/>
            <a:ext cx="3370680" cy="18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-Equatorial úmido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-Tropical 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-Semiárido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-Tropical atlântico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Picture 2" descr="Clima da Região Nordeste - Resumo, Mapa, Imagem"/>
          <p:cNvPicPr/>
          <p:nvPr/>
        </p:nvPicPr>
        <p:blipFill>
          <a:blip r:embed="rId1"/>
          <a:stretch/>
        </p:blipFill>
        <p:spPr>
          <a:xfrm>
            <a:off x="4601160" y="1218960"/>
            <a:ext cx="6095160" cy="5376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64" dur="indefinite" restart="never" nodeType="tmRoot">
          <p:childTnLst>
            <p:seq>
              <p:cTn id="165" dur="indefinite" nodeType="mainSeq">
                <p:childTnLst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7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aixaDeTexto 7"/>
          <p:cNvSpPr/>
          <p:nvPr/>
        </p:nvSpPr>
        <p:spPr>
          <a:xfrm>
            <a:off x="4397760" y="401400"/>
            <a:ext cx="32504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VEGETAÇÃO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CaixaDeTexto 2"/>
          <p:cNvSpPr/>
          <p:nvPr/>
        </p:nvSpPr>
        <p:spPr>
          <a:xfrm>
            <a:off x="1795680" y="1420920"/>
            <a:ext cx="9046080" cy="13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Mata Atlântica no litoral, Caatinga no semiárido, passando por Cerrado, Mata dos Cocais, restingas 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 manguezais.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Picture 2" descr="cactos xique-xique em terreno pedregoso na caatinga, vegetação típica ..."/>
          <p:cNvPicPr/>
          <p:nvPr/>
        </p:nvPicPr>
        <p:blipFill>
          <a:blip r:embed="rId1"/>
          <a:stretch/>
        </p:blipFill>
        <p:spPr>
          <a:xfrm>
            <a:off x="406440" y="3672000"/>
            <a:ext cx="3155040" cy="210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Picture 4" descr="Clima e vegetação do Nordeste. Aspectos naturais do Nordeste"/>
          <p:cNvPicPr/>
          <p:nvPr/>
        </p:nvPicPr>
        <p:blipFill>
          <a:blip r:embed="rId2"/>
          <a:stretch/>
        </p:blipFill>
        <p:spPr>
          <a:xfrm>
            <a:off x="4611600" y="3672000"/>
            <a:ext cx="3156480" cy="210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6" descr="Foto de dois pés de flaboyant florido na caatinga - vegetação típica do ..."/>
          <p:cNvPicPr/>
          <p:nvPr/>
        </p:nvPicPr>
        <p:blipFill>
          <a:blip r:embed="rId3"/>
          <a:stretch/>
        </p:blipFill>
        <p:spPr>
          <a:xfrm>
            <a:off x="8679600" y="3672720"/>
            <a:ext cx="3163320" cy="2103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83" dur="indefinite" restart="never" nodeType="tmRoot">
          <p:childTnLst>
            <p:seq>
              <p:cTn id="184" dur="indefinite" nodeType="mainSeq">
                <p:childTnLst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9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aixaDeTexto 7"/>
          <p:cNvSpPr/>
          <p:nvPr/>
        </p:nvSpPr>
        <p:spPr>
          <a:xfrm>
            <a:off x="2962440" y="401400"/>
            <a:ext cx="60534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ASPECTOS CULTURAIS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CaixaDeTexto 1"/>
          <p:cNvSpPr/>
          <p:nvPr/>
        </p:nvSpPr>
        <p:spPr>
          <a:xfrm>
            <a:off x="4341960" y="3243960"/>
            <a:ext cx="32940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FESTAS TIPICAS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CaixaDeTexto 9"/>
          <p:cNvSpPr/>
          <p:nvPr/>
        </p:nvSpPr>
        <p:spPr>
          <a:xfrm>
            <a:off x="653040" y="3243960"/>
            <a:ext cx="230868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CULINÁRIA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CaixaDeTexto 10"/>
          <p:cNvSpPr/>
          <p:nvPr/>
        </p:nvSpPr>
        <p:spPr>
          <a:xfrm>
            <a:off x="8984520" y="3243960"/>
            <a:ext cx="276768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MÚSICAS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12" dur="indefinite" restart="never" nodeType="tmRoot">
          <p:childTnLst>
            <p:seq>
              <p:cTn id="213" dur="indefinite" nodeType="mainSeq">
                <p:childTnLst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9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2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aixaDeTexto 7"/>
          <p:cNvSpPr/>
          <p:nvPr/>
        </p:nvSpPr>
        <p:spPr>
          <a:xfrm>
            <a:off x="4397760" y="401400"/>
            <a:ext cx="32504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CULINÁRIA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aixaDeTexto 2"/>
          <p:cNvSpPr/>
          <p:nvPr/>
        </p:nvSpPr>
        <p:spPr>
          <a:xfrm>
            <a:off x="1795680" y="1420920"/>
            <a:ext cx="9046080" cy="13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Marcada por sabores fortes, temperos apimentados e 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uma rica fusão de influências indígenas, africanas e 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portuguesas.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2" descr="Ilha de Boipeba"/>
          <p:cNvPicPr/>
          <p:nvPr/>
        </p:nvPicPr>
        <p:blipFill>
          <a:blip r:embed="rId1"/>
          <a:stretch/>
        </p:blipFill>
        <p:spPr>
          <a:xfrm>
            <a:off x="672480" y="3672720"/>
            <a:ext cx="3154320" cy="210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Picture 4" descr="https://www.melhoresdestinos.com.br/wp-content/uploads/2020/07/comidas-tipicas-nordeste-00007.jpg"/>
          <p:cNvPicPr/>
          <p:nvPr/>
        </p:nvPicPr>
        <p:blipFill>
          <a:blip r:embed="rId2"/>
          <a:stretch/>
        </p:blipFill>
        <p:spPr>
          <a:xfrm>
            <a:off x="4637160" y="3673080"/>
            <a:ext cx="3156480" cy="210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Picture 6" descr="https://www.melhoresdestinos.com.br/wp-content/uploads/2020/07/comidas-tipicas-nordeste-00001.jpg"/>
          <p:cNvPicPr/>
          <p:nvPr/>
        </p:nvPicPr>
        <p:blipFill>
          <a:blip r:embed="rId3"/>
          <a:stretch/>
        </p:blipFill>
        <p:spPr>
          <a:xfrm>
            <a:off x="8578080" y="3673080"/>
            <a:ext cx="3159360" cy="210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CaixaDeTexto 1"/>
          <p:cNvSpPr/>
          <p:nvPr/>
        </p:nvSpPr>
        <p:spPr>
          <a:xfrm>
            <a:off x="9304200" y="6041880"/>
            <a:ext cx="17067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Cuscuz de milho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CaixaDeTexto 10"/>
          <p:cNvSpPr/>
          <p:nvPr/>
        </p:nvSpPr>
        <p:spPr>
          <a:xfrm>
            <a:off x="5577120" y="6041880"/>
            <a:ext cx="14824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Baião de Dois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CaixaDeTexto 11"/>
          <p:cNvSpPr/>
          <p:nvPr/>
        </p:nvSpPr>
        <p:spPr>
          <a:xfrm>
            <a:off x="1709640" y="6041880"/>
            <a:ext cx="10803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Moqueca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36" dur="indefinite" restart="never" nodeType="tmRoot">
          <p:childTnLst>
            <p:seq>
              <p:cTn id="237" dur="indefinite" nodeType="mainSeq">
                <p:childTnLst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4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5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aixaDeTexto 7"/>
          <p:cNvSpPr/>
          <p:nvPr/>
        </p:nvSpPr>
        <p:spPr>
          <a:xfrm>
            <a:off x="3827880" y="401400"/>
            <a:ext cx="4168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FESTAS TIPICAS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CaixaDeTexto 3"/>
          <p:cNvSpPr/>
          <p:nvPr/>
        </p:nvSpPr>
        <p:spPr>
          <a:xfrm>
            <a:off x="2438280" y="5660640"/>
            <a:ext cx="1049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-Carnaval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CaixaDeTexto 120"/>
          <p:cNvSpPr/>
          <p:nvPr/>
        </p:nvSpPr>
        <p:spPr>
          <a:xfrm>
            <a:off x="7997040" y="5679000"/>
            <a:ext cx="1565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-Festa Junina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906920" y="1346400"/>
            <a:ext cx="2285640" cy="4063680"/>
          </a:xfrm>
          <a:prstGeom prst="rect">
            <a:avLst/>
          </a:prstGeom>
          <a:ln w="0">
            <a:noFill/>
          </a:ln>
        </p:spPr>
      </p:pic>
      <p:pic>
        <p:nvPicPr>
          <p:cNvPr id="125" name="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78520" y="1346400"/>
            <a:ext cx="2285640" cy="406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80" dur="indefinite" restart="never" nodeType="tmRoot">
          <p:childTnLst>
            <p:seq>
              <p:cTn id="281" dur="indefinite" nodeType="mainSeq">
                <p:childTnLst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8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0" dur="16137" fill="hold"/>
                                        <p:tgtEl>
                                          <p:spTgt spid="1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>
              <p:cMediaNode>
                <p:cTn>
                  <p:stCondLst>
                    <p:cond delay="indefinite"/>
                  </p:stCondLst>
                </p:cTn>
                <p:tgtEl>
                  <p:spTgt spid="124"/>
                </p:tgtEl>
              </p:cMediaNode>
            </p:video>
            <p:video>
              <p:cMediaNode>
                <p:cTn>
                  <p:stCondLst>
                    <p:cond delay="indefinite"/>
                  </p:stCondLst>
                </p:cTn>
                <p:tgtEl>
                  <p:spTgt spid="125"/>
                </p:tgtEl>
              </p:cMediaNode>
            </p:video>
            <p:seq>
              <p:cTn id="301" restart="whenNotActive" fill="hold" nodeType="interactiveSeq">
                <p:stCondLst>
                  <p:cond delay="0" evt="onClick">
                    <p:tgtEl>
                      <p:spTgt spid="125"/>
                    </p:tgtEl>
                  </p:cond>
                </p:stCondLst>
                <p:childTnLst>
                  <p:par>
                    <p:cTn id="302" fill="hold">
                      <p:stCondLst>
                        <p:cond delay="0" evt="onClick">
                          <p:tgtEl>
                            <p:spTgt spid="125"/>
                          </p:tgtEl>
                        </p:cond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5" dur="1" fill="hold"/>
                                        <p:tgtEl>
                                          <p:spTgt spid="1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aixaDeTexto 7"/>
          <p:cNvSpPr/>
          <p:nvPr/>
        </p:nvSpPr>
        <p:spPr>
          <a:xfrm>
            <a:off x="4814640" y="401400"/>
            <a:ext cx="25722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MÚSICAS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CaixaDeTexto 1"/>
          <p:cNvSpPr/>
          <p:nvPr/>
        </p:nvSpPr>
        <p:spPr>
          <a:xfrm>
            <a:off x="0" y="1476720"/>
            <a:ext cx="6414480" cy="22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música nordestina abrange estilos tradicionais como forró, baião, xote, frevo e axé, além de manifestações culturais como repente, samba de roda, maracatu e manguebeat.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CaixaDeTexto 3"/>
          <p:cNvSpPr/>
          <p:nvPr/>
        </p:nvSpPr>
        <p:spPr>
          <a:xfrm>
            <a:off x="7924680" y="1514520"/>
            <a:ext cx="3903480" cy="18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Instrumentos típicos incluem sanfona, zabumba, pandeiro, berimbau e rabeca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Picture 2" descr="Trio de músicos típicos do Nordeste do Brasil Sanfoneiro triângulo e ..."/>
          <p:cNvPicPr/>
          <p:nvPr/>
        </p:nvPicPr>
        <p:blipFill>
          <a:blip r:embed="rId1"/>
          <a:stretch/>
        </p:blipFill>
        <p:spPr>
          <a:xfrm>
            <a:off x="4299480" y="3863880"/>
            <a:ext cx="4230720" cy="2702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06" dur="indefinite" restart="never" nodeType="tmRoot">
          <p:childTnLst>
            <p:seq>
              <p:cTn id="307" dur="indefinite" nodeType="mainSeq">
                <p:childTnLst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1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aixaDeTexto 7"/>
          <p:cNvSpPr/>
          <p:nvPr/>
        </p:nvSpPr>
        <p:spPr>
          <a:xfrm>
            <a:off x="2801160" y="401400"/>
            <a:ext cx="63421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ASPECTOS ECONÔMICOS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CaixaDeTexto 1"/>
          <p:cNvSpPr/>
          <p:nvPr/>
        </p:nvSpPr>
        <p:spPr>
          <a:xfrm>
            <a:off x="4951800" y="2808720"/>
            <a:ext cx="258048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INDUSTRIA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CaixaDeTexto 9"/>
          <p:cNvSpPr/>
          <p:nvPr/>
        </p:nvSpPr>
        <p:spPr>
          <a:xfrm>
            <a:off x="275760" y="2808720"/>
            <a:ext cx="291672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AGRICULTURA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CaixaDeTexto 10"/>
          <p:cNvSpPr/>
          <p:nvPr/>
        </p:nvSpPr>
        <p:spPr>
          <a:xfrm>
            <a:off x="8795520" y="2808720"/>
            <a:ext cx="295632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GOVERNANÇA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aixaDeTexto 5"/>
          <p:cNvSpPr/>
          <p:nvPr/>
        </p:nvSpPr>
        <p:spPr>
          <a:xfrm>
            <a:off x="5147640" y="4790520"/>
            <a:ext cx="2188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TURISMO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30" dur="indefinite" restart="never" nodeType="tmRoot">
          <p:childTnLst>
            <p:seq>
              <p:cTn id="331" dur="indefinite" nodeType="mainSeq">
                <p:childTnLst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3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5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5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aixaDeTexto 7"/>
          <p:cNvSpPr/>
          <p:nvPr/>
        </p:nvSpPr>
        <p:spPr>
          <a:xfrm>
            <a:off x="3827880" y="401400"/>
            <a:ext cx="4168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AGRICULTURA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CaixaDeTexto 1"/>
          <p:cNvSpPr/>
          <p:nvPr/>
        </p:nvSpPr>
        <p:spPr>
          <a:xfrm>
            <a:off x="798120" y="1886760"/>
            <a:ext cx="4861440" cy="440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região Nordeste se destaca na produção de cana-de-açúcar (concentrada em Alagoas, Pernambuco e Paraíba), além de algodão (Ceará, Paraíba e Rio Grande do Norte), soja (Bahia, Maranhão), milho, tabaco, caju, uva, manga e melão.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Picture 2" descr="Quais são os principais produtos da agricultura da região Nordeste?"/>
          <p:cNvPicPr/>
          <p:nvPr/>
        </p:nvPicPr>
        <p:blipFill>
          <a:blip r:embed="rId1"/>
          <a:stretch/>
        </p:blipFill>
        <p:spPr>
          <a:xfrm>
            <a:off x="5912640" y="2334960"/>
            <a:ext cx="5698080" cy="350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59" dur="indefinite" restart="never" nodeType="tmRoot">
          <p:childTnLst>
            <p:seq>
              <p:cTn id="360" dur="indefinite" nodeType="mainSeq">
                <p:childTnLst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5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6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7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aixaDeTexto 7"/>
          <p:cNvSpPr/>
          <p:nvPr/>
        </p:nvSpPr>
        <p:spPr>
          <a:xfrm>
            <a:off x="3827880" y="401400"/>
            <a:ext cx="4168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INDUSTRIA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aixaDeTexto 1"/>
          <p:cNvSpPr/>
          <p:nvPr/>
        </p:nvSpPr>
        <p:spPr>
          <a:xfrm>
            <a:off x="798120" y="1886760"/>
            <a:ext cx="4861440" cy="35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indústria nordestina é diversificada, com destaque para alimentos, têxtil, química, metalmecânica e energia, concentrada em polos estratégicos como Suape, Camaçari, Recife, Salvador e Fortaleza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Picture 2" descr="Indústria do Nordeste: combustíveis foi responsável por puxar sozinho o crescimento da produção no Rio Grande do Norte"/>
          <p:cNvPicPr/>
          <p:nvPr/>
        </p:nvPicPr>
        <p:blipFill>
          <a:blip r:embed="rId1"/>
          <a:stretch/>
        </p:blipFill>
        <p:spPr>
          <a:xfrm>
            <a:off x="5660640" y="2094480"/>
            <a:ext cx="6031080" cy="3123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78" dur="indefinite" restart="never" nodeType="tmRoot">
          <p:childTnLst>
            <p:seq>
              <p:cTn id="379" dur="indefinite" nodeType="mainSeq">
                <p:childTnLst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4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5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8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9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aixaDeTexto 7"/>
          <p:cNvSpPr/>
          <p:nvPr/>
        </p:nvSpPr>
        <p:spPr>
          <a:xfrm>
            <a:off x="3827880" y="401400"/>
            <a:ext cx="4168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GOVERNANÇA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aixaDeTexto 1"/>
          <p:cNvSpPr/>
          <p:nvPr/>
        </p:nvSpPr>
        <p:spPr>
          <a:xfrm>
            <a:off x="798120" y="1886760"/>
            <a:ext cx="4106880" cy="31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 Consórcio Nordeste tem estrutura de governança colegiada, moldada para construção de consensos em torno da atuação conjunta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Picture 2" descr="http://www.consorcionordeste.gov.br/wp-content/uploads/2022/02/Organograma-3-1.png"/>
          <p:cNvPicPr/>
          <p:nvPr/>
        </p:nvPicPr>
        <p:blipFill>
          <a:blip r:embed="rId1"/>
          <a:stretch/>
        </p:blipFill>
        <p:spPr>
          <a:xfrm>
            <a:off x="5660640" y="1886760"/>
            <a:ext cx="6158520" cy="377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97" dur="indefinite" restart="never" nodeType="tmRoot">
          <p:childTnLst>
            <p:seq>
              <p:cTn id="398" dur="indefinite" nodeType="mainSeq">
                <p:childTnLst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3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4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40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1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aixaDeTexto 7"/>
          <p:cNvSpPr/>
          <p:nvPr/>
        </p:nvSpPr>
        <p:spPr>
          <a:xfrm>
            <a:off x="3827880" y="401400"/>
            <a:ext cx="4168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TURISMO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aixaDeTexto 1"/>
          <p:cNvSpPr/>
          <p:nvPr/>
        </p:nvSpPr>
        <p:spPr>
          <a:xfrm>
            <a:off x="798120" y="1886760"/>
            <a:ext cx="4106880" cy="39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 turismo no Nordeste do Brasil é uma experiência rica e diversificada, com destinos que oferecem uma combinação única de beleza natural, cultura vibrante e gastronomia deliciosa.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Picture 2" descr="Principais destinos turísticos do Nordeste Brasileiro"/>
          <p:cNvPicPr/>
          <p:nvPr/>
        </p:nvPicPr>
        <p:blipFill>
          <a:blip r:embed="rId1"/>
          <a:stretch/>
        </p:blipFill>
        <p:spPr>
          <a:xfrm>
            <a:off x="5631480" y="1686600"/>
            <a:ext cx="5826600" cy="437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416" dur="indefinite" restart="never" nodeType="tmRoot">
          <p:childTnLst>
            <p:seq>
              <p:cTn id="417" dur="indefinite" nodeType="mainSeq">
                <p:childTnLst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2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3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42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3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aixaDeTexto 7"/>
          <p:cNvSpPr/>
          <p:nvPr/>
        </p:nvSpPr>
        <p:spPr>
          <a:xfrm>
            <a:off x="3715560" y="401400"/>
            <a:ext cx="48470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PIB DO NORDESTE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CaixaDeTexto 5"/>
          <p:cNvSpPr/>
          <p:nvPr/>
        </p:nvSpPr>
        <p:spPr>
          <a:xfrm>
            <a:off x="4245480" y="1466640"/>
            <a:ext cx="378756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Produto interno bruto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Picture 2"/>
          <p:cNvPicPr/>
          <p:nvPr/>
        </p:nvPicPr>
        <p:blipFill>
          <a:blip r:embed="rId1"/>
          <a:stretch/>
        </p:blipFill>
        <p:spPr>
          <a:xfrm>
            <a:off x="2792880" y="2467440"/>
            <a:ext cx="6692760" cy="3751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1500">
        <p:split dir="out" orient="vert"/>
      </p:transition>
    </mc:Choice>
    <mc:Fallback>
      <p:transition spd="slow">
        <p:split dir="out" orient="vert"/>
      </p:transition>
    </mc:Fallback>
  </mc:AlternateContent>
  <p:timing>
    <p:tnLst>
      <p:par>
        <p:cTn id="435" dur="indefinite" restart="never" nodeType="tmRoot">
          <p:childTnLst>
            <p:seq>
              <p:cTn id="436" dur="indefinite" nodeType="mainSeq">
                <p:childTnLst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1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2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44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5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aixaDeTexto 7"/>
          <p:cNvSpPr/>
          <p:nvPr/>
        </p:nvSpPr>
        <p:spPr>
          <a:xfrm>
            <a:off x="1939320" y="401400"/>
            <a:ext cx="80838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PONTO TÚRISTICO IMPORTANTE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Picture 2" descr="lencois maranhenses"/>
          <p:cNvPicPr/>
          <p:nvPr/>
        </p:nvPicPr>
        <p:blipFill>
          <a:blip r:embed="rId1"/>
          <a:stretch/>
        </p:blipFill>
        <p:spPr>
          <a:xfrm>
            <a:off x="2841120" y="1333800"/>
            <a:ext cx="6279840" cy="418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CaixaDeTexto 1"/>
          <p:cNvSpPr/>
          <p:nvPr/>
        </p:nvSpPr>
        <p:spPr>
          <a:xfrm>
            <a:off x="2841120" y="5544000"/>
            <a:ext cx="24408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Lençóis Maranhenses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454" dur="indefinite" restart="never" nodeType="tmRoot">
          <p:childTnLst>
            <p:seq>
              <p:cTn id="455" dur="indefinite" nodeType="mainSeq">
                <p:childTnLst>
                  <p:par>
                    <p:cTn id="456" fill="hold">
                      <p:stCondLst>
                        <p:cond delay="indefinite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id="458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60" dur="500" fill="hold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1" dur="500" fill="hold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462" dur="500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7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aixaDeTexto 7"/>
          <p:cNvSpPr/>
          <p:nvPr/>
        </p:nvSpPr>
        <p:spPr>
          <a:xfrm>
            <a:off x="1407960" y="401400"/>
            <a:ext cx="91868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CURIOSIDADES SOBRE O NORDESTE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CaixaDeTexto 2"/>
          <p:cNvSpPr/>
          <p:nvPr/>
        </p:nvSpPr>
        <p:spPr>
          <a:xfrm>
            <a:off x="609480" y="1411920"/>
            <a:ext cx="7183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Universidade Federal da Bahia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CaixaDeTexto 5"/>
          <p:cNvSpPr/>
          <p:nvPr/>
        </p:nvSpPr>
        <p:spPr>
          <a:xfrm>
            <a:off x="609480" y="2464200"/>
            <a:ext cx="7183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Olinda, em Pernambuco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CaixaDeTexto 6"/>
          <p:cNvSpPr/>
          <p:nvPr/>
        </p:nvSpPr>
        <p:spPr>
          <a:xfrm>
            <a:off x="609480" y="3516480"/>
            <a:ext cx="7183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Rio São Francisco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CaixaDeTexto 8"/>
          <p:cNvSpPr/>
          <p:nvPr/>
        </p:nvSpPr>
        <p:spPr>
          <a:xfrm>
            <a:off x="609480" y="4568760"/>
            <a:ext cx="7183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A região com mais estados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aixaDeTexto 9"/>
          <p:cNvSpPr/>
          <p:nvPr/>
        </p:nvSpPr>
        <p:spPr>
          <a:xfrm>
            <a:off x="609480" y="5621040"/>
            <a:ext cx="7183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A primeira capital federal do Brasil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473" dur="indefinite" restart="never" nodeType="tmRoot">
          <p:childTnLst>
            <p:seq>
              <p:cTn id="474" dur="indefinite" nodeType="mainSeq">
                <p:childTnLst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9" dur="500" fill="hold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0" dur="500" fill="hold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481" dur="5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2" fill="hold">
                      <p:stCondLst>
                        <p:cond delay="indefinite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8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9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9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0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indefinite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0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aixaDeTexto 7"/>
          <p:cNvSpPr/>
          <p:nvPr/>
        </p:nvSpPr>
        <p:spPr>
          <a:xfrm>
            <a:off x="1407960" y="401400"/>
            <a:ext cx="91868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BIBLIOGRAFIA DE IMAGENS:</a:t>
            </a:r>
            <a:endParaRPr lang="pt-B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CaixaDeTexto 2"/>
          <p:cNvSpPr/>
          <p:nvPr/>
        </p:nvSpPr>
        <p:spPr>
          <a:xfrm>
            <a:off x="217800" y="1672920"/>
            <a:ext cx="10957680" cy="48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https://fity.club/lists/suggestions/relevo-da-regiao-nordeste/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https://escolaeducacao.com.br/clima-da-regiao-nordeste/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https://www.melhoresdestinos.com.br/comidas-tipicas-nordeste.html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https://stock.adobe.com/br/images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https://www.agropecnews.com.br/desafios-da-agricultura-no-nordeste-entenda-aqui/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https://www.consorcionordeste.gov.br/p/governanca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https://movimentoeconomico.com.br/economia/2024/04/15/industria-do-nordeste/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https://deltarioparnaiba.com.br/15-principais-pontos-turisticos-do-nordeste/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507" dur="indefinite" restart="never" nodeType="tmRoot">
          <p:childTnLst>
            <p:seq>
              <p:cTn id="508" dur="indefinite" nodeType="mainSeq">
                <p:childTnLst>
                  <p:par>
                    <p:cTn id="509" fill="hold">
                      <p:stCondLst>
                        <p:cond delay="indefinite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presetID="5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3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4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515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indefinite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aixaDeTexto 7"/>
          <p:cNvSpPr/>
          <p:nvPr/>
        </p:nvSpPr>
        <p:spPr>
          <a:xfrm>
            <a:off x="2061000" y="2497320"/>
            <a:ext cx="6312960" cy="86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5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DÚVIDAS?</a:t>
            </a:r>
            <a:endParaRPr lang="pt-BR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2" descr="C:\Users\Jenilson\Videos\TRABALHO\questao.png"/>
          <p:cNvPicPr/>
          <p:nvPr/>
        </p:nvPicPr>
        <p:blipFill>
          <a:blip r:embed="rId1"/>
          <a:stretch/>
        </p:blipFill>
        <p:spPr>
          <a:xfrm>
            <a:off x="6222600" y="1370520"/>
            <a:ext cx="4303800" cy="43038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  <p:timing>
    <p:tnLst>
      <p:par>
        <p:cTn id="520" dur="indefinite" restart="never" nodeType="tmRoot">
          <p:childTnLst>
            <p:seq>
              <p:cTn id="521" dur="indefinite" nodeType="mainSeq">
                <p:childTnLst>
                  <p:par>
                    <p:cTn id="522" fill="hold">
                      <p:stCondLst>
                        <p:cond delay="indefinite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id="52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6" fill="hold">
                      <p:stCondLst>
                        <p:cond delay="indefinite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aixaDeTexto 7"/>
          <p:cNvSpPr/>
          <p:nvPr/>
        </p:nvSpPr>
        <p:spPr>
          <a:xfrm>
            <a:off x="462240" y="2296800"/>
            <a:ext cx="11729160" cy="31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Obrigado</a:t>
            </a:r>
            <a:endParaRPr lang="pt-BR" sz="10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0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Pela atenção</a:t>
            </a:r>
            <a:endParaRPr lang="pt-BR" sz="10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m 2"/>
          <p:cNvPicPr/>
          <p:nvPr/>
        </p:nvPicPr>
        <p:blipFill>
          <a:blip r:embed="rId1"/>
          <a:stretch/>
        </p:blipFill>
        <p:spPr>
          <a:xfrm>
            <a:off x="6913440" y="104040"/>
            <a:ext cx="4714560" cy="480024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</TotalTime>
  <Application>LibreOffice/26.2.2.2$Linux_X86_64 LibreOffice_project/620$Build-2</Application>
  <AppVersion>15.0000</AppVersion>
  <Words>607</Words>
  <Paragraphs>108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2026-05-27T19:01:41Z</dcterms:created>
  <dc:creator>Aluno</dc:creator>
  <dc:description/>
  <dc:language>pt-BR</dc:language>
  <cp:lastModifiedBy/>
  <dcterms:modified xsi:type="dcterms:W3CDTF">2026-06-07T13:12:48Z</dcterms:modified>
  <cp:revision>34</cp:revision>
  <dc:subject/>
  <dc:title>NORDESTE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PresentationFormat">
    <vt:lpwstr>Widescreen</vt:lpwstr>
  </property>
  <property fmtid="{D5CDD505-2E9C-101B-9397-08002B2CF9AE}" pid="4" name="Slides">
    <vt:i4>25</vt:i4>
  </property>
</Properties>
</file>