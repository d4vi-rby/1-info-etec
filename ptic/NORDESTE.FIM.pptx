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yan Junior" initials="BJ" lastIdx="1" clrIdx="0">
    <p:extLst>
      <p:ext uri="{19B8F6BF-5375-455C-9EA6-DF929625EA0E}">
        <p15:presenceInfo xmlns:p15="http://schemas.microsoft.com/office/powerpoint/2012/main" userId="1f89e63d84032d6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0T01:54:37.458" idx="1">
    <p:pos x="-370" y="441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C7F9A-4EAB-466B-94A5-7A1B2818535C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719E4-619E-4F78-B532-5B908B9E80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56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19E4-619E-4F78-B532-5B908B9E80E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96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BDB1FF-1EB4-4A33-99DC-D961555F9E0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F4DBC4-E298-478E-BCF4-595AC88B881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4572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9144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3716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18288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2860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27432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C9361A-9E42-4F30-96CF-D292BE84751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F13CED-574C-448E-9867-A1B1C3671F2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B9E335-D6C3-4B33-9A4B-2F51300F1B9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CC12AD-55C4-4F45-850A-4C00F7DC76C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707366-FF88-4A43-BA79-AEA7827DA71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BD41F4-681C-490B-BEEB-29E8777C386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2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25C3F6-5DDF-4850-94E9-09AD8A1199F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D88791-BB9A-4EDA-8C6C-47629D57941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43FE9C-CC46-4EEF-AF69-752BF6F1E41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f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26059" y="150489"/>
            <a:ext cx="9341461" cy="256554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TRABALHO SOB</a:t>
            </a:r>
            <a:r>
              <a:rPr lang="pt-BR" dirty="0">
                <a:latin typeface="Arial"/>
              </a:rPr>
              <a:t>RE </a:t>
            </a:r>
            <a:br>
              <a:rPr lang="pt-BR" dirty="0">
                <a:latin typeface="Arial"/>
              </a:rPr>
            </a:br>
            <a:r>
              <a:rPr lang="pt-BR" dirty="0">
                <a:latin typeface="Arial"/>
              </a:rPr>
              <a:t>A</a:t>
            </a:r>
            <a:br>
              <a:rPr lang="pt-BR" dirty="0">
                <a:latin typeface="Arial"/>
              </a:rPr>
            </a:b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REGIÃO NORDESTE</a:t>
            </a:r>
            <a:endParaRPr lang="pt-BR" sz="60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 rot="10800000">
            <a:off x="1524240" y="7487280"/>
            <a:ext cx="914328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CaixaDeTexto 3"/>
          <p:cNvSpPr/>
          <p:nvPr/>
        </p:nvSpPr>
        <p:spPr>
          <a:xfrm>
            <a:off x="7936920" y="3960000"/>
            <a:ext cx="3942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INFORMATICA PARA INTERNET – 1° ANO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ixaDeTexto 4"/>
          <p:cNvSpPr/>
          <p:nvPr/>
        </p:nvSpPr>
        <p:spPr>
          <a:xfrm>
            <a:off x="3526920" y="3863160"/>
            <a:ext cx="2941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63"/>
          <p:cNvSpPr/>
          <p:nvPr/>
        </p:nvSpPr>
        <p:spPr>
          <a:xfrm>
            <a:off x="8459640" y="4350240"/>
            <a:ext cx="2897640" cy="237492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Davi Ribeiro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Carlos Eduardo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Valkyria Zumba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Fabrício Bryan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Pedro Henrique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Arthur Batista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Guilherme Procópio</a:t>
            </a: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 Martins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ângulo 2"/>
          <p:cNvSpPr/>
          <p:nvPr/>
        </p:nvSpPr>
        <p:spPr>
          <a:xfrm>
            <a:off x="4381200" y="297720"/>
            <a:ext cx="3254400" cy="101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SUMÁRIO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ixaDeTexto 2"/>
          <p:cNvSpPr/>
          <p:nvPr/>
        </p:nvSpPr>
        <p:spPr>
          <a:xfrm>
            <a:off x="607754" y="1728718"/>
            <a:ext cx="5131293" cy="4399751"/>
          </a:xfrm>
          <a:prstGeom prst="rect">
            <a:avLst/>
          </a:prstGeom>
          <a:gradFill rotWithShape="0">
            <a:gsLst>
              <a:gs pos="0">
                <a:srgbClr val="B5D3A7"/>
              </a:gs>
              <a:gs pos="0">
                <a:srgbClr val="9CC588"/>
              </a:gs>
            </a:gsLst>
            <a:lin ang="5400000"/>
          </a:gra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1- Mapa do Nordeste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3- Características Físicas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5- Aspectos Econômicos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7- Pontos Turísticos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9- Bibliografia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478E3C-DAA3-422E-0332-948AB65A1B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6000" y="1728721"/>
            <a:ext cx="5924365" cy="4831559"/>
          </a:xfrm>
        </p:spPr>
        <p:txBody>
          <a:bodyPr/>
          <a:lstStyle/>
          <a:p>
            <a:pPr marL="0" indent="0">
              <a:buNone/>
            </a:pPr>
            <a:endParaRPr lang="pt-BR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CaixaDeTexto 2">
            <a:extLst>
              <a:ext uri="{FF2B5EF4-FFF2-40B4-BE49-F238E27FC236}">
                <a16:creationId xmlns:a16="http://schemas.microsoft.com/office/drawing/2014/main" id="{236B2F13-31D4-6885-66B4-001E02763F2E}"/>
              </a:ext>
            </a:extLst>
          </p:cNvPr>
          <p:cNvSpPr/>
          <p:nvPr/>
        </p:nvSpPr>
        <p:spPr>
          <a:xfrm>
            <a:off x="5739047" y="1728717"/>
            <a:ext cx="5455080" cy="4399751"/>
          </a:xfrm>
          <a:prstGeom prst="rect">
            <a:avLst/>
          </a:prstGeom>
          <a:gradFill rotWithShape="0">
            <a:gsLst>
              <a:gs pos="0">
                <a:srgbClr val="B5D3A7"/>
              </a:gs>
              <a:gs pos="0">
                <a:srgbClr val="9CC588"/>
              </a:gs>
            </a:gsLst>
            <a:lin ang="5400000"/>
          </a:gra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2- Estados da Região Nordeste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4- Aspectos Culturais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6- PIB do Nordeste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8- Curiosidades</a:t>
            </a: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10- Considerações Finais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51BA99-4B0B-187F-FF74-83B2FB29A85C}"/>
              </a:ext>
            </a:extLst>
          </p:cNvPr>
          <p:cNvSpPr txBox="1"/>
          <p:nvPr/>
        </p:nvSpPr>
        <p:spPr>
          <a:xfrm>
            <a:off x="0" y="6488668"/>
            <a:ext cx="6387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adro 3">
            <a:extLst>
              <a:ext uri="{FF2B5EF4-FFF2-40B4-BE49-F238E27FC236}">
                <a16:creationId xmlns:a16="http://schemas.microsoft.com/office/drawing/2014/main" id="{C39F5809-6D03-21A9-8A49-550117747327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67" name="Imagem 16"/>
          <p:cNvPicPr/>
          <p:nvPr/>
        </p:nvPicPr>
        <p:blipFill>
          <a:blip r:embed="rId2"/>
          <a:stretch/>
        </p:blipFill>
        <p:spPr>
          <a:xfrm>
            <a:off x="3440781" y="1128960"/>
            <a:ext cx="5702479" cy="543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Retângulo 2"/>
          <p:cNvSpPr/>
          <p:nvPr/>
        </p:nvSpPr>
        <p:spPr>
          <a:xfrm>
            <a:off x="2710440" y="297720"/>
            <a:ext cx="6770160" cy="101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MAPA DO NORDESTE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642EF0-81EC-4507-A76A-B0DF55E01932}"/>
              </a:ext>
            </a:extLst>
          </p:cNvPr>
          <p:cNvSpPr txBox="1"/>
          <p:nvPr/>
        </p:nvSpPr>
        <p:spPr>
          <a:xfrm>
            <a:off x="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E0D4495-DD07-AC50-B12D-686739E9BD9C}"/>
              </a:ext>
            </a:extLst>
          </p:cNvPr>
          <p:cNvSpPr/>
          <p:nvPr/>
        </p:nvSpPr>
        <p:spPr>
          <a:xfrm>
            <a:off x="203480" y="252076"/>
            <a:ext cx="11785039" cy="16927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5"/>
          <p:cNvSpPr/>
          <p:nvPr/>
        </p:nvSpPr>
        <p:spPr>
          <a:xfrm>
            <a:off x="8110800" y="2594520"/>
            <a:ext cx="39006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Ceara(CE) –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ixaDeTexto 6"/>
          <p:cNvSpPr/>
          <p:nvPr/>
        </p:nvSpPr>
        <p:spPr>
          <a:xfrm>
            <a:off x="333720" y="2594520"/>
            <a:ext cx="374688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Alagoas(AL) - Maceió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8"/>
          <p:cNvSpPr/>
          <p:nvPr/>
        </p:nvSpPr>
        <p:spPr>
          <a:xfrm>
            <a:off x="4276800" y="2594520"/>
            <a:ext cx="3637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Bahia(BA) – Salvador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m 2"/>
          <p:cNvPicPr/>
          <p:nvPr/>
        </p:nvPicPr>
        <p:blipFill>
          <a:blip r:embed="rId2"/>
          <a:stretch/>
        </p:blipFill>
        <p:spPr>
          <a:xfrm>
            <a:off x="333720" y="3413160"/>
            <a:ext cx="37468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4"/>
          <p:cNvPicPr/>
          <p:nvPr/>
        </p:nvPicPr>
        <p:blipFill>
          <a:blip r:embed="rId3"/>
          <a:stretch/>
        </p:blipFill>
        <p:spPr>
          <a:xfrm>
            <a:off x="4355280" y="3429000"/>
            <a:ext cx="34804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m 10"/>
          <p:cNvPicPr/>
          <p:nvPr/>
        </p:nvPicPr>
        <p:blipFill>
          <a:blip r:embed="rId4"/>
          <a:stretch/>
        </p:blipFill>
        <p:spPr>
          <a:xfrm>
            <a:off x="8110800" y="3429000"/>
            <a:ext cx="3746880" cy="24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EB4409C-7E11-BA81-5F0D-B0E065BD461B}"/>
              </a:ext>
            </a:extLst>
          </p:cNvPr>
          <p:cNvSpPr txBox="1"/>
          <p:nvPr/>
        </p:nvSpPr>
        <p:spPr>
          <a:xfrm>
            <a:off x="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1EF74FC-AF8F-79C2-C1EA-F85BF16056E7}"/>
              </a:ext>
            </a:extLst>
          </p:cNvPr>
          <p:cNvSpPr/>
          <p:nvPr/>
        </p:nvSpPr>
        <p:spPr>
          <a:xfrm>
            <a:off x="203480" y="252076"/>
            <a:ext cx="11785039" cy="16927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5"/>
          <p:cNvSpPr/>
          <p:nvPr/>
        </p:nvSpPr>
        <p:spPr>
          <a:xfrm>
            <a:off x="8096580" y="2481350"/>
            <a:ext cx="3900600" cy="13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Pernambuco(PE) – Recife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6"/>
          <p:cNvSpPr/>
          <p:nvPr/>
        </p:nvSpPr>
        <p:spPr>
          <a:xfrm>
            <a:off x="79470" y="2479110"/>
            <a:ext cx="4127040" cy="95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Maranhão(MA) – São Luís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8"/>
          <p:cNvSpPr/>
          <p:nvPr/>
        </p:nvSpPr>
        <p:spPr>
          <a:xfrm>
            <a:off x="4276800" y="2479110"/>
            <a:ext cx="3637800" cy="13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Paraíba(PB) – João Pessoa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m 3"/>
          <p:cNvPicPr/>
          <p:nvPr/>
        </p:nvPicPr>
        <p:blipFill>
          <a:blip r:embed="rId2"/>
          <a:stretch/>
        </p:blipFill>
        <p:spPr>
          <a:xfrm>
            <a:off x="333720" y="3423600"/>
            <a:ext cx="374652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m 11"/>
          <p:cNvPicPr/>
          <p:nvPr/>
        </p:nvPicPr>
        <p:blipFill>
          <a:blip r:embed="rId3"/>
          <a:stretch/>
        </p:blipFill>
        <p:spPr>
          <a:xfrm>
            <a:off x="4355280" y="3416400"/>
            <a:ext cx="3600720" cy="252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m 13"/>
          <p:cNvPicPr/>
          <p:nvPr/>
        </p:nvPicPr>
        <p:blipFill>
          <a:blip r:embed="rId4"/>
          <a:stretch/>
        </p:blipFill>
        <p:spPr>
          <a:xfrm>
            <a:off x="8152560" y="3423600"/>
            <a:ext cx="3788640" cy="24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4FC4367-5800-7540-E7A9-1A3C59B75AD5}"/>
              </a:ext>
            </a:extLst>
          </p:cNvPr>
          <p:cNvSpPr txBox="1"/>
          <p:nvPr/>
        </p:nvSpPr>
        <p:spPr>
          <a:xfrm>
            <a:off x="38926" y="6456600"/>
            <a:ext cx="611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5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1F4A78E-8060-D528-1C8A-15C0952CA783}"/>
              </a:ext>
            </a:extLst>
          </p:cNvPr>
          <p:cNvSpPr/>
          <p:nvPr/>
        </p:nvSpPr>
        <p:spPr>
          <a:xfrm>
            <a:off x="203180" y="246944"/>
            <a:ext cx="11785039" cy="16927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5"/>
          <p:cNvSpPr/>
          <p:nvPr/>
        </p:nvSpPr>
        <p:spPr>
          <a:xfrm>
            <a:off x="8110800" y="2594520"/>
            <a:ext cx="39006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Sergipe(SE) - Aracaju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ixaDeTexto 6"/>
          <p:cNvSpPr/>
          <p:nvPr/>
        </p:nvSpPr>
        <p:spPr>
          <a:xfrm>
            <a:off x="333720" y="2594520"/>
            <a:ext cx="3400200" cy="52236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Piauí(PI) – Teresina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8"/>
          <p:cNvSpPr/>
          <p:nvPr/>
        </p:nvSpPr>
        <p:spPr>
          <a:xfrm>
            <a:off x="4176720" y="2301556"/>
            <a:ext cx="3668040" cy="95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Rio grande do norte(RN) – Natal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m 3"/>
          <p:cNvPicPr/>
          <p:nvPr/>
        </p:nvPicPr>
        <p:blipFill>
          <a:blip r:embed="rId3"/>
          <a:stretch/>
        </p:blipFill>
        <p:spPr>
          <a:xfrm>
            <a:off x="333720" y="3429000"/>
            <a:ext cx="37468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Imagem 11"/>
          <p:cNvPicPr/>
          <p:nvPr/>
        </p:nvPicPr>
        <p:blipFill>
          <a:blip r:embed="rId4"/>
          <a:stretch/>
        </p:blipFill>
        <p:spPr>
          <a:xfrm>
            <a:off x="4176721" y="3426120"/>
            <a:ext cx="3752278" cy="250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m 13"/>
          <p:cNvPicPr/>
          <p:nvPr/>
        </p:nvPicPr>
        <p:blipFill>
          <a:blip r:embed="rId5"/>
          <a:stretch/>
        </p:blipFill>
        <p:spPr>
          <a:xfrm>
            <a:off x="8033400" y="3429000"/>
            <a:ext cx="3573720" cy="250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DB4BC8-DC50-6FC1-F022-B47B405A1CC2}"/>
              </a:ext>
            </a:extLst>
          </p:cNvPr>
          <p:cNvSpPr txBox="1"/>
          <p:nvPr/>
        </p:nvSpPr>
        <p:spPr>
          <a:xfrm>
            <a:off x="73241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 animBg="1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adro 8">
            <a:extLst>
              <a:ext uri="{FF2B5EF4-FFF2-40B4-BE49-F238E27FC236}">
                <a16:creationId xmlns:a16="http://schemas.microsoft.com/office/drawing/2014/main" id="{24051F1F-47C9-F777-D07C-5484D53ABCD8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A82C2A-F0B8-E9ED-83DE-078C10497CDB}"/>
              </a:ext>
            </a:extLst>
          </p:cNvPr>
          <p:cNvSpPr/>
          <p:nvPr/>
        </p:nvSpPr>
        <p:spPr>
          <a:xfrm>
            <a:off x="203180" y="246944"/>
            <a:ext cx="11785039" cy="16927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CaixaDeTexto 7"/>
          <p:cNvSpPr/>
          <p:nvPr/>
        </p:nvSpPr>
        <p:spPr>
          <a:xfrm>
            <a:off x="2591999" y="758541"/>
            <a:ext cx="7007400" cy="66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CARACTERÍSTICAS FÍSICAS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DeTexto 9"/>
          <p:cNvSpPr/>
          <p:nvPr/>
        </p:nvSpPr>
        <p:spPr>
          <a:xfrm>
            <a:off x="2810402" y="2986791"/>
            <a:ext cx="197316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RELEVO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DeTexto 1"/>
          <p:cNvSpPr/>
          <p:nvPr/>
        </p:nvSpPr>
        <p:spPr>
          <a:xfrm>
            <a:off x="5403737" y="2987385"/>
            <a:ext cx="159906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CLIMA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10"/>
          <p:cNvSpPr/>
          <p:nvPr/>
        </p:nvSpPr>
        <p:spPr>
          <a:xfrm>
            <a:off x="7622979" y="2987385"/>
            <a:ext cx="2767681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VEGETAÇÃO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A6144F-5EA4-8E36-43A8-A23B053ADA45}"/>
              </a:ext>
            </a:extLst>
          </p:cNvPr>
          <p:cNvSpPr txBox="1"/>
          <p:nvPr/>
        </p:nvSpPr>
        <p:spPr>
          <a:xfrm>
            <a:off x="108751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aixaDeTexto 7"/>
          <p:cNvSpPr/>
          <p:nvPr/>
        </p:nvSpPr>
        <p:spPr>
          <a:xfrm>
            <a:off x="5094360" y="401400"/>
            <a:ext cx="21765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RELEVO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2"/>
          <p:cNvSpPr/>
          <p:nvPr/>
        </p:nvSpPr>
        <p:spPr>
          <a:xfrm>
            <a:off x="2048040" y="1517040"/>
            <a:ext cx="28832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-Planaltos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-Planícies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4" descr="Relevo Da Regiao Nordeste Estados Do Nordeste: Quais São, Capitais,"/>
          <p:cNvPicPr/>
          <p:nvPr/>
        </p:nvPicPr>
        <p:blipFill>
          <a:blip r:embed="rId2"/>
          <a:stretch/>
        </p:blipFill>
        <p:spPr>
          <a:xfrm>
            <a:off x="630000" y="2907720"/>
            <a:ext cx="4300920" cy="297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CaixaDeTexto 3"/>
          <p:cNvSpPr/>
          <p:nvPr/>
        </p:nvSpPr>
        <p:spPr>
          <a:xfrm>
            <a:off x="846360" y="6086160"/>
            <a:ext cx="40849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Parque nacional da chapada diamantina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6" descr="Monumento Natural das Falésias de Beberibe - O que saber antes de ir"/>
          <p:cNvPicPr/>
          <p:nvPr/>
        </p:nvPicPr>
        <p:blipFill>
          <a:blip r:embed="rId3"/>
          <a:stretch/>
        </p:blipFill>
        <p:spPr>
          <a:xfrm>
            <a:off x="6413760" y="2907720"/>
            <a:ext cx="4592880" cy="297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CaixaDeTexto 11"/>
          <p:cNvSpPr/>
          <p:nvPr/>
        </p:nvSpPr>
        <p:spPr>
          <a:xfrm>
            <a:off x="6413760" y="6086160"/>
            <a:ext cx="45928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Monumentos naturais da falésias e Beberibe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2"/>
          <p:cNvSpPr/>
          <p:nvPr/>
        </p:nvSpPr>
        <p:spPr>
          <a:xfrm>
            <a:off x="7630200" y="1519560"/>
            <a:ext cx="3205080" cy="12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-Chapadas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-Depressões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B818EE-A625-24BC-F90D-F31C241CD81A}"/>
              </a:ext>
            </a:extLst>
          </p:cNvPr>
          <p:cNvSpPr txBox="1"/>
          <p:nvPr/>
        </p:nvSpPr>
        <p:spPr>
          <a:xfrm>
            <a:off x="148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8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ixaDeTexto 7"/>
          <p:cNvSpPr/>
          <p:nvPr/>
        </p:nvSpPr>
        <p:spPr>
          <a:xfrm>
            <a:off x="5094360" y="401400"/>
            <a:ext cx="21765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CLIMA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2"/>
          <p:cNvSpPr/>
          <p:nvPr/>
        </p:nvSpPr>
        <p:spPr>
          <a:xfrm>
            <a:off x="466200" y="2523960"/>
            <a:ext cx="3370680" cy="181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-Equatorial úmido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-Semiárido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atlântico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2" descr="Clima da Região Nordeste - Resumo, Mapa, Imagem"/>
          <p:cNvPicPr/>
          <p:nvPr/>
        </p:nvPicPr>
        <p:blipFill>
          <a:blip r:embed="rId2"/>
          <a:stretch/>
        </p:blipFill>
        <p:spPr>
          <a:xfrm>
            <a:off x="4601160" y="1218960"/>
            <a:ext cx="6095160" cy="537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1E9360E-BC2F-D800-F4BD-1328EB8D6523}"/>
              </a:ext>
            </a:extLst>
          </p:cNvPr>
          <p:cNvSpPr txBox="1"/>
          <p:nvPr/>
        </p:nvSpPr>
        <p:spPr>
          <a:xfrm>
            <a:off x="0" y="647344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9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aixaDeTexto 7"/>
          <p:cNvSpPr/>
          <p:nvPr/>
        </p:nvSpPr>
        <p:spPr>
          <a:xfrm>
            <a:off x="4397760" y="401400"/>
            <a:ext cx="32504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VEGETAÇÃO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2"/>
          <p:cNvSpPr/>
          <p:nvPr/>
        </p:nvSpPr>
        <p:spPr>
          <a:xfrm>
            <a:off x="1795680" y="1420920"/>
            <a:ext cx="9046080" cy="13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Mata Atlântica no litoral, Caatinga no semiárido, passando por Cerrado, Mata dos Cocais, restingas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 manguezais.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2" descr="cactos xique-xique em terreno pedregoso na caatinga, vegetação típica ..."/>
          <p:cNvPicPr/>
          <p:nvPr/>
        </p:nvPicPr>
        <p:blipFill>
          <a:blip r:embed="rId2"/>
          <a:stretch/>
        </p:blipFill>
        <p:spPr>
          <a:xfrm>
            <a:off x="406440" y="3672000"/>
            <a:ext cx="315504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4" descr="Clima e vegetação do Nordeste. Aspectos naturais do Nordeste"/>
          <p:cNvPicPr/>
          <p:nvPr/>
        </p:nvPicPr>
        <p:blipFill>
          <a:blip r:embed="rId3"/>
          <a:stretch/>
        </p:blipFill>
        <p:spPr>
          <a:xfrm>
            <a:off x="4611600" y="3672000"/>
            <a:ext cx="315648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6" descr="Foto de dois pés de flaboyant florido na caatinga - vegetação típica do ..."/>
          <p:cNvPicPr/>
          <p:nvPr/>
        </p:nvPicPr>
        <p:blipFill>
          <a:blip r:embed="rId4"/>
          <a:stretch/>
        </p:blipFill>
        <p:spPr>
          <a:xfrm>
            <a:off x="8679600" y="3672720"/>
            <a:ext cx="3163320" cy="21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1FEC1A2-E721-4EA5-77D0-E66D69B8D151}"/>
              </a:ext>
            </a:extLst>
          </p:cNvPr>
          <p:cNvSpPr txBox="1"/>
          <p:nvPr/>
        </p:nvSpPr>
        <p:spPr>
          <a:xfrm>
            <a:off x="22549" y="645841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adro 3">
            <a:extLst>
              <a:ext uri="{FF2B5EF4-FFF2-40B4-BE49-F238E27FC236}">
                <a16:creationId xmlns:a16="http://schemas.microsoft.com/office/drawing/2014/main" id="{2F09489B-8960-FE86-C7DA-573560BFCA9C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9" name="CaixaDeTexto 7"/>
          <p:cNvSpPr/>
          <p:nvPr/>
        </p:nvSpPr>
        <p:spPr>
          <a:xfrm>
            <a:off x="2962440" y="401400"/>
            <a:ext cx="60534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CULTURAIS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1"/>
          <p:cNvSpPr/>
          <p:nvPr/>
        </p:nvSpPr>
        <p:spPr>
          <a:xfrm>
            <a:off x="4341960" y="3243960"/>
            <a:ext cx="32940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FESTAS TIPICAS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"/>
          <p:cNvSpPr/>
          <p:nvPr/>
        </p:nvSpPr>
        <p:spPr>
          <a:xfrm>
            <a:off x="653040" y="3243960"/>
            <a:ext cx="230868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CULINÁRIA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10"/>
          <p:cNvSpPr/>
          <p:nvPr/>
        </p:nvSpPr>
        <p:spPr>
          <a:xfrm>
            <a:off x="8984520" y="3243960"/>
            <a:ext cx="276768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MÚSICAS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3D182-5559-7630-99D1-0845848FB5C4}"/>
              </a:ext>
            </a:extLst>
          </p:cNvPr>
          <p:cNvSpPr txBox="1"/>
          <p:nvPr/>
        </p:nvSpPr>
        <p:spPr>
          <a:xfrm>
            <a:off x="0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11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aixaDeTexto 7"/>
          <p:cNvSpPr/>
          <p:nvPr/>
        </p:nvSpPr>
        <p:spPr>
          <a:xfrm>
            <a:off x="4397760" y="401400"/>
            <a:ext cx="32504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CULINÁRIA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2"/>
          <p:cNvSpPr/>
          <p:nvPr/>
        </p:nvSpPr>
        <p:spPr>
          <a:xfrm>
            <a:off x="1795680" y="1420920"/>
            <a:ext cx="9046080" cy="13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Marcada por sabores fortes, temperos apimentados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uma rica fusão de influências indígenas, africanas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portuguesas.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Ilha de Boipeba"/>
          <p:cNvPicPr/>
          <p:nvPr/>
        </p:nvPicPr>
        <p:blipFill>
          <a:blip r:embed="rId2"/>
          <a:stretch/>
        </p:blipFill>
        <p:spPr>
          <a:xfrm>
            <a:off x="672480" y="3672720"/>
            <a:ext cx="3154320" cy="210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4" descr="https://www.melhoresdestinos.com.br/wp-content/uploads/2020/07/comidas-tipicas-nordeste-00007.jpg"/>
          <p:cNvPicPr/>
          <p:nvPr/>
        </p:nvPicPr>
        <p:blipFill>
          <a:blip r:embed="rId3"/>
          <a:stretch/>
        </p:blipFill>
        <p:spPr>
          <a:xfrm>
            <a:off x="4637160" y="3673080"/>
            <a:ext cx="315648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6" descr="https://www.melhoresdestinos.com.br/wp-content/uploads/2020/07/comidas-tipicas-nordeste-00001.jpg"/>
          <p:cNvPicPr/>
          <p:nvPr/>
        </p:nvPicPr>
        <p:blipFill>
          <a:blip r:embed="rId4"/>
          <a:stretch/>
        </p:blipFill>
        <p:spPr>
          <a:xfrm>
            <a:off x="8578080" y="3673080"/>
            <a:ext cx="3159360" cy="210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CaixaDeTexto 1"/>
          <p:cNvSpPr/>
          <p:nvPr/>
        </p:nvSpPr>
        <p:spPr>
          <a:xfrm>
            <a:off x="9304200" y="6041880"/>
            <a:ext cx="17067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Cuscuz de milho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ixaDeTexto 10"/>
          <p:cNvSpPr/>
          <p:nvPr/>
        </p:nvSpPr>
        <p:spPr>
          <a:xfrm>
            <a:off x="5577120" y="6041880"/>
            <a:ext cx="14824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Baião de Dois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11"/>
          <p:cNvSpPr/>
          <p:nvPr/>
        </p:nvSpPr>
        <p:spPr>
          <a:xfrm>
            <a:off x="1709640" y="6041880"/>
            <a:ext cx="10803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Moqueca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50A49B-691E-C6EB-3AE7-AE51A3845ABD}"/>
              </a:ext>
            </a:extLst>
          </p:cNvPr>
          <p:cNvSpPr txBox="1"/>
          <p:nvPr/>
        </p:nvSpPr>
        <p:spPr>
          <a:xfrm>
            <a:off x="4793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FESTAS TIPICAS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3"/>
          <p:cNvSpPr/>
          <p:nvPr/>
        </p:nvSpPr>
        <p:spPr>
          <a:xfrm>
            <a:off x="2438280" y="5660640"/>
            <a:ext cx="1049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-Carnaval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ixaDeTexto 120"/>
          <p:cNvSpPr/>
          <p:nvPr/>
        </p:nvSpPr>
        <p:spPr>
          <a:xfrm>
            <a:off x="7997040" y="5679000"/>
            <a:ext cx="15652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-Festa Junina</a:t>
            </a:r>
          </a:p>
        </p:txBody>
      </p:sp>
      <p:pic>
        <p:nvPicPr>
          <p:cNvPr id="124" name="Imagem 123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06920" y="1346400"/>
            <a:ext cx="2285640" cy="4063680"/>
          </a:xfrm>
          <a:prstGeom prst="rect">
            <a:avLst/>
          </a:prstGeom>
          <a:ln w="0">
            <a:noFill/>
          </a:ln>
        </p:spPr>
      </p:pic>
      <p:pic>
        <p:nvPicPr>
          <p:cNvPr id="125" name="Imagem 124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8520" y="1346400"/>
            <a:ext cx="2285640" cy="4063680"/>
          </a:xfrm>
          <a:prstGeom prst="rect">
            <a:avLst/>
          </a:prstGeom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384EC59-67BC-86A2-6FE4-1CA26AF7A72A}"/>
              </a:ext>
            </a:extLst>
          </p:cNvPr>
          <p:cNvSpPr txBox="1"/>
          <p:nvPr/>
        </p:nvSpPr>
        <p:spPr>
          <a:xfrm>
            <a:off x="82118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aixaDeTexto 7"/>
          <p:cNvSpPr/>
          <p:nvPr/>
        </p:nvSpPr>
        <p:spPr>
          <a:xfrm>
            <a:off x="4814640" y="401400"/>
            <a:ext cx="25722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MÚSICAS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ixaDeTexto 1"/>
          <p:cNvSpPr/>
          <p:nvPr/>
        </p:nvSpPr>
        <p:spPr>
          <a:xfrm>
            <a:off x="0" y="1476720"/>
            <a:ext cx="6414480" cy="22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música nordestina abrange estilos tradicionais como forró, baião, xote, frevo e axé, além de manifestações culturais como repente, samba de roda, maracatu e manguebeat.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ixaDeTexto 3"/>
          <p:cNvSpPr/>
          <p:nvPr/>
        </p:nvSpPr>
        <p:spPr>
          <a:xfrm>
            <a:off x="7924680" y="1514520"/>
            <a:ext cx="3903480" cy="181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Instrumentos típicos incluem sanfona, zabumba, pandeiro, berimbau e rabeca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2" descr="Trio de músicos típicos do Nordeste do Brasil Sanfoneiro triângulo e ..."/>
          <p:cNvPicPr/>
          <p:nvPr/>
        </p:nvPicPr>
        <p:blipFill>
          <a:blip r:embed="rId2"/>
          <a:stretch/>
        </p:blipFill>
        <p:spPr>
          <a:xfrm>
            <a:off x="4299480" y="3863880"/>
            <a:ext cx="4230720" cy="270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3044236-BF88-716B-3C7D-4D0F2E4BD958}"/>
              </a:ext>
            </a:extLst>
          </p:cNvPr>
          <p:cNvSpPr txBox="1"/>
          <p:nvPr/>
        </p:nvSpPr>
        <p:spPr>
          <a:xfrm>
            <a:off x="0" y="6508800"/>
            <a:ext cx="6156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adro 3">
            <a:extLst>
              <a:ext uri="{FF2B5EF4-FFF2-40B4-BE49-F238E27FC236}">
                <a16:creationId xmlns:a16="http://schemas.microsoft.com/office/drawing/2014/main" id="{28AEF74A-0708-B97C-2832-16CEA6864EBD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0" name="CaixaDeTexto 7"/>
          <p:cNvSpPr/>
          <p:nvPr/>
        </p:nvSpPr>
        <p:spPr>
          <a:xfrm>
            <a:off x="2801160" y="401400"/>
            <a:ext cx="63421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ECONÔMICOS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aixaDeTexto 1"/>
          <p:cNvSpPr/>
          <p:nvPr/>
        </p:nvSpPr>
        <p:spPr>
          <a:xfrm>
            <a:off x="4951800" y="2808720"/>
            <a:ext cx="258048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INDUSTRIA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CaixaDeTexto 9"/>
          <p:cNvSpPr/>
          <p:nvPr/>
        </p:nvSpPr>
        <p:spPr>
          <a:xfrm>
            <a:off x="275760" y="2808720"/>
            <a:ext cx="291672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AGRICULTURA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10"/>
          <p:cNvSpPr/>
          <p:nvPr/>
        </p:nvSpPr>
        <p:spPr>
          <a:xfrm>
            <a:off x="8795520" y="2808720"/>
            <a:ext cx="295632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GOVERNANÇA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5"/>
          <p:cNvSpPr/>
          <p:nvPr/>
        </p:nvSpPr>
        <p:spPr>
          <a:xfrm>
            <a:off x="5147640" y="4790520"/>
            <a:ext cx="2188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TURISMO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86F7DC-30A8-7E37-FEDD-6E139A731404}"/>
              </a:ext>
            </a:extLst>
          </p:cNvPr>
          <p:cNvSpPr txBox="1"/>
          <p:nvPr/>
        </p:nvSpPr>
        <p:spPr>
          <a:xfrm>
            <a:off x="64363" y="64029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AGRICULTURA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1"/>
          <p:cNvSpPr/>
          <p:nvPr/>
        </p:nvSpPr>
        <p:spPr>
          <a:xfrm>
            <a:off x="798120" y="1886760"/>
            <a:ext cx="4861440" cy="440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 região Nordeste se destaca na produção de cana-de-açúcar (concentrada em Alagoas, Pernambuco e Paraíba), além de algodão (Ceará, Paraíba e Rio Grande do Norte), soja (Bahia, Maranhão), milho, tabaco, caju, uva, manga e melão.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2" descr="Quais são os principais produtos da agricultura da região Nordeste?"/>
          <p:cNvPicPr/>
          <p:nvPr/>
        </p:nvPicPr>
        <p:blipFill>
          <a:blip r:embed="rId2"/>
          <a:stretch/>
        </p:blipFill>
        <p:spPr>
          <a:xfrm>
            <a:off x="5912640" y="2334960"/>
            <a:ext cx="5698080" cy="350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CEA1215-8D8D-3A1D-C427-E1AA77AE6FB0}"/>
              </a:ext>
            </a:extLst>
          </p:cNvPr>
          <p:cNvSpPr txBox="1"/>
          <p:nvPr/>
        </p:nvSpPr>
        <p:spPr>
          <a:xfrm>
            <a:off x="0" y="6488668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16</a:t>
            </a:r>
          </a:p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INDUSTRIA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1"/>
          <p:cNvSpPr/>
          <p:nvPr/>
        </p:nvSpPr>
        <p:spPr>
          <a:xfrm>
            <a:off x="798120" y="1886760"/>
            <a:ext cx="4861440" cy="353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indústria nordestina é diversificada, com destaque para alimentos, têxtil, química, metalmecânica e energia, concentrada em polos estratégicos como Suape, Camaçari, Recife, Salvador e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2" descr="Indústria do Nordeste: combustíveis foi responsável por puxar sozinho o crescimento da produção no Rio Grande do Norte"/>
          <p:cNvPicPr/>
          <p:nvPr/>
        </p:nvPicPr>
        <p:blipFill>
          <a:blip r:embed="rId2"/>
          <a:stretch/>
        </p:blipFill>
        <p:spPr>
          <a:xfrm>
            <a:off x="7457242" y="401400"/>
            <a:ext cx="4521693" cy="575970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DD96BD3-9AA3-E062-D592-77FA5B29AE1E}"/>
              </a:ext>
            </a:extLst>
          </p:cNvPr>
          <p:cNvSpPr txBox="1"/>
          <p:nvPr/>
        </p:nvSpPr>
        <p:spPr>
          <a:xfrm>
            <a:off x="73240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GOVERNANÇA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1"/>
          <p:cNvSpPr/>
          <p:nvPr/>
        </p:nvSpPr>
        <p:spPr>
          <a:xfrm>
            <a:off x="798120" y="1886760"/>
            <a:ext cx="4106880" cy="31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 Consórcio Nordeste tem estrutura de governança colegiada, moldada para construção de consensos em torno da atuação conjunta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2" descr="http://www.consorcionordeste.gov.br/wp-content/uploads/2022/02/Organograma-3-1.png"/>
          <p:cNvPicPr/>
          <p:nvPr/>
        </p:nvPicPr>
        <p:blipFill>
          <a:blip r:embed="rId2"/>
          <a:stretch/>
        </p:blipFill>
        <p:spPr>
          <a:xfrm>
            <a:off x="5660640" y="1886760"/>
            <a:ext cx="6158520" cy="377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ABBCDD-631B-93E7-D838-164B8E4B24B8}"/>
              </a:ext>
            </a:extLst>
          </p:cNvPr>
          <p:cNvSpPr txBox="1"/>
          <p:nvPr/>
        </p:nvSpPr>
        <p:spPr>
          <a:xfrm>
            <a:off x="82118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TURISMO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1"/>
          <p:cNvSpPr/>
          <p:nvPr/>
        </p:nvSpPr>
        <p:spPr>
          <a:xfrm>
            <a:off x="798120" y="1886760"/>
            <a:ext cx="4106880" cy="39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turismo no Nordeste do Brasil é uma experiência rica e diversificada, com destinos que oferecem uma combinação única de beleza natural, cultura vibrante e gastronomia deliciosa.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2" descr="Principais destinos turísticos do Nordeste Brasileiro"/>
          <p:cNvPicPr/>
          <p:nvPr/>
        </p:nvPicPr>
        <p:blipFill>
          <a:blip r:embed="rId2"/>
          <a:stretch/>
        </p:blipFill>
        <p:spPr>
          <a:xfrm>
            <a:off x="5631480" y="1686600"/>
            <a:ext cx="5826600" cy="437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E25C541-67F7-6888-E2B4-D48AEBE43A06}"/>
              </a:ext>
            </a:extLst>
          </p:cNvPr>
          <p:cNvSpPr txBox="1"/>
          <p:nvPr/>
        </p:nvSpPr>
        <p:spPr>
          <a:xfrm>
            <a:off x="73240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aixaDeTexto 7"/>
          <p:cNvSpPr/>
          <p:nvPr/>
        </p:nvSpPr>
        <p:spPr>
          <a:xfrm>
            <a:off x="1939320" y="401400"/>
            <a:ext cx="808380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PONTO TÚRISTICO IMPORTANTE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" descr="lencois maranhenses"/>
          <p:cNvPicPr/>
          <p:nvPr/>
        </p:nvPicPr>
        <p:blipFill>
          <a:blip r:embed="rId2"/>
          <a:stretch/>
        </p:blipFill>
        <p:spPr>
          <a:xfrm>
            <a:off x="2841120" y="1333800"/>
            <a:ext cx="6279840" cy="418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aixaDeTexto 1"/>
          <p:cNvSpPr/>
          <p:nvPr/>
        </p:nvSpPr>
        <p:spPr>
          <a:xfrm>
            <a:off x="2841120" y="5544000"/>
            <a:ext cx="244080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Lençóis Maranhenses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EF841F-97CD-2301-322D-76166C79807C}"/>
              </a:ext>
            </a:extLst>
          </p:cNvPr>
          <p:cNvSpPr txBox="1"/>
          <p:nvPr/>
        </p:nvSpPr>
        <p:spPr>
          <a:xfrm>
            <a:off x="82118" y="638037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aixaDeTexto 7"/>
          <p:cNvSpPr/>
          <p:nvPr/>
        </p:nvSpPr>
        <p:spPr>
          <a:xfrm>
            <a:off x="3715560" y="401400"/>
            <a:ext cx="48470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PIB DO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5"/>
          <p:cNvSpPr/>
          <p:nvPr/>
        </p:nvSpPr>
        <p:spPr>
          <a:xfrm>
            <a:off x="4245480" y="1466640"/>
            <a:ext cx="378756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Produto interno bruto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2"/>
          <p:cNvPicPr/>
          <p:nvPr/>
        </p:nvPicPr>
        <p:blipFill>
          <a:blip r:embed="rId2"/>
          <a:stretch/>
        </p:blipFill>
        <p:spPr>
          <a:xfrm>
            <a:off x="2792880" y="2467440"/>
            <a:ext cx="6692760" cy="37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B887C4E-3BFF-D9B5-6371-967F84E9A7CA}"/>
              </a:ext>
            </a:extLst>
          </p:cNvPr>
          <p:cNvSpPr txBox="1"/>
          <p:nvPr/>
        </p:nvSpPr>
        <p:spPr>
          <a:xfrm>
            <a:off x="44560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="">
      <p:transition spd="slow">
        <p:split dir="out"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aixaDeTexto 7"/>
          <p:cNvSpPr/>
          <p:nvPr/>
        </p:nvSpPr>
        <p:spPr>
          <a:xfrm>
            <a:off x="1407960" y="401400"/>
            <a:ext cx="91868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CURIOSIDADES SOBRE 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2"/>
          <p:cNvSpPr/>
          <p:nvPr/>
        </p:nvSpPr>
        <p:spPr>
          <a:xfrm>
            <a:off x="609480" y="141192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Universidade Federal da Bahia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5"/>
          <p:cNvSpPr/>
          <p:nvPr/>
        </p:nvSpPr>
        <p:spPr>
          <a:xfrm>
            <a:off x="609480" y="246420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Olinda, em Pernambuco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ixaDeTexto 6"/>
          <p:cNvSpPr/>
          <p:nvPr/>
        </p:nvSpPr>
        <p:spPr>
          <a:xfrm>
            <a:off x="609480" y="351648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Rio São Francisco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ixaDeTexto 8"/>
          <p:cNvSpPr/>
          <p:nvPr/>
        </p:nvSpPr>
        <p:spPr>
          <a:xfrm>
            <a:off x="609480" y="456876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A região com mais estados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9"/>
          <p:cNvSpPr/>
          <p:nvPr/>
        </p:nvSpPr>
        <p:spPr>
          <a:xfrm>
            <a:off x="609480" y="562104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A primeira capital federal do Brasil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20573B-BDF3-2F9A-DFA3-CAB3AD64B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780" y="1331100"/>
            <a:ext cx="4330633" cy="541547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08AD9A9-F21A-5991-F431-1F545FC3CAD9}"/>
              </a:ext>
            </a:extLst>
          </p:cNvPr>
          <p:cNvSpPr txBox="1"/>
          <p:nvPr/>
        </p:nvSpPr>
        <p:spPr>
          <a:xfrm>
            <a:off x="1480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aixaDeTexto 7"/>
          <p:cNvSpPr/>
          <p:nvPr/>
        </p:nvSpPr>
        <p:spPr>
          <a:xfrm>
            <a:off x="1407960" y="401400"/>
            <a:ext cx="91868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BIBLIOGRAFIA DE IMAGENS: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2"/>
          <p:cNvSpPr/>
          <p:nvPr/>
        </p:nvSpPr>
        <p:spPr>
          <a:xfrm>
            <a:off x="217800" y="1672920"/>
            <a:ext cx="10957680" cy="483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https://fity.club/lists/suggestions/relevo-da-regiao-nordeste/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https://escolaeducacao.com.br/clima-da-regiao-nordeste/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https://www.melhoresdestinos.com.br/comidas-tipicas-nordeste.html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https://stock.adobe.com/br/images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https://www.agropecnews.com.br/desafios-da-agricultura-no-nordeste-entenda-aqui/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https://www.consorcionordeste.gov.br/p/governanca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https://movimentoeconomico.com.br/economia/2024/04/15/industria-do-nordeste/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https://deltarioparnaiba.com.br/15-principais-pontos-turisticos-do-nordeste/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CD2BF1-0BAD-50D7-4D56-B2288D146C07}"/>
              </a:ext>
            </a:extLst>
          </p:cNvPr>
          <p:cNvSpPr txBox="1"/>
          <p:nvPr/>
        </p:nvSpPr>
        <p:spPr>
          <a:xfrm>
            <a:off x="99874" y="64566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adro 3">
            <a:extLst>
              <a:ext uri="{FF2B5EF4-FFF2-40B4-BE49-F238E27FC236}">
                <a16:creationId xmlns:a16="http://schemas.microsoft.com/office/drawing/2014/main" id="{06CB9CF9-1F62-20E0-C483-B83BC172D56A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1" name="CaixaDeTexto 7"/>
          <p:cNvSpPr/>
          <p:nvPr/>
        </p:nvSpPr>
        <p:spPr>
          <a:xfrm>
            <a:off x="2061000" y="2497320"/>
            <a:ext cx="6312960" cy="86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5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DÚVIDAS?</a:t>
            </a:r>
            <a:endParaRPr lang="pt-BR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" descr="C:\Users\Jenilson\Videos\TRABALHO\questao.png"/>
          <p:cNvPicPr/>
          <p:nvPr/>
        </p:nvPicPr>
        <p:blipFill>
          <a:blip r:embed="rId2"/>
          <a:stretch/>
        </p:blipFill>
        <p:spPr>
          <a:xfrm>
            <a:off x="6222600" y="1370520"/>
            <a:ext cx="4303800" cy="43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162D766-965E-79D9-B152-2A6420FE1A86}"/>
              </a:ext>
            </a:extLst>
          </p:cNvPr>
          <p:cNvSpPr txBox="1"/>
          <p:nvPr/>
        </p:nvSpPr>
        <p:spPr>
          <a:xfrm>
            <a:off x="128080" y="64317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24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adro 2">
            <a:extLst>
              <a:ext uri="{FF2B5EF4-FFF2-40B4-BE49-F238E27FC236}">
                <a16:creationId xmlns:a16="http://schemas.microsoft.com/office/drawing/2014/main" id="{87238CF3-177B-0FF5-5EA8-3037054CBE10}"/>
              </a:ext>
            </a:extLst>
          </p:cNvPr>
          <p:cNvSpPr/>
          <p:nvPr/>
        </p:nvSpPr>
        <p:spPr>
          <a:xfrm>
            <a:off x="1" y="1"/>
            <a:ext cx="12192000" cy="6857999"/>
          </a:xfrm>
          <a:prstGeom prst="frame">
            <a:avLst>
              <a:gd name="adj1" fmla="val 477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3" name="CaixaDeTexto 7"/>
          <p:cNvSpPr/>
          <p:nvPr/>
        </p:nvSpPr>
        <p:spPr>
          <a:xfrm>
            <a:off x="462840" y="2296800"/>
            <a:ext cx="1172916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0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Obrigado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Pela atenção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m 2"/>
          <p:cNvPicPr/>
          <p:nvPr/>
        </p:nvPicPr>
        <p:blipFill>
          <a:blip r:embed="rId2"/>
          <a:stretch/>
        </p:blipFill>
        <p:spPr>
          <a:xfrm>
            <a:off x="6913440" y="104040"/>
            <a:ext cx="4714560" cy="480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</TotalTime>
  <Words>635</Words>
  <Application>Microsoft Office PowerPoint</Application>
  <PresentationFormat>Widescreen</PresentationFormat>
  <Paragraphs>140</Paragraphs>
  <Slides>25</Slides>
  <Notes>1</Notes>
  <HiddenSlides>0</HiddenSlides>
  <MMClips>2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TRABALHO SOBRE  A  REGIÃO NORDESTE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NORDESTE</dc:title>
  <dc:subject/>
  <dc:creator>Aluno</dc:creator>
  <dc:description/>
  <cp:lastModifiedBy>Aluno</cp:lastModifiedBy>
  <cp:revision>39</cp:revision>
  <dcterms:created xsi:type="dcterms:W3CDTF">2026-05-27T19:01:41Z</dcterms:created>
  <dcterms:modified xsi:type="dcterms:W3CDTF">2026-06-10T20:22:18Z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Widescreen</vt:lpwstr>
  </property>
  <property fmtid="{D5CDD505-2E9C-101B-9397-08002B2CF9AE}" pid="4" name="Slides">
    <vt:i4>25</vt:i4>
  </property>
</Properties>
</file>